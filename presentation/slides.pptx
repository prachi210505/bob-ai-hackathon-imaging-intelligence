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2D4B"/>
                </a:solidFill>
                <a:latin typeface="Aptos Display"/>
              </a:defRPr>
            </a:pPr>
            <a:r>
              <a:t>TrialGuard: Proactive Risk Management</a:t>
            </a:r>
          </a:p>
          <a:p>
            <a:pPr>
              <a:spcBef>
                <a:spcPts val="1200"/>
              </a:spcBef>
              <a:defRPr sz="2500">
                <a:solidFill>
                  <a:srgbClr val="237D82"/>
                </a:solidFill>
                <a:latin typeface="Aptos"/>
              </a:defRPr>
            </a:pPr>
            <a:r>
              <a:t>in Clinical Trials</a:t>
            </a:r>
          </a:p>
          <a:p>
            <a:pPr>
              <a:spcBef>
                <a:spcPts val="1600"/>
              </a:spcBef>
              <a:defRPr sz="1800">
                <a:solidFill>
                  <a:srgbClr val="5F6976"/>
                </a:solidFill>
                <a:latin typeface="Aptos"/>
              </a:defRPr>
            </a:pPr>
            <a:r>
              <a:t>Shifting from Reactive Reconciliation to Real-Time Protocol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663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</a:defRPr>
            </a:pPr>
            <a:r>
              <a:t>Target audience: Clinical Trial Steering Committee, Clinical Operations Leadership, Risk Managers</a:t>
            </a:r>
          </a:p>
          <a:p>
            <a:pPr>
              <a:spcBef>
                <a:spcPts val="800"/>
              </a:spcBef>
              <a:defRPr sz="1400">
                <a:solidFill>
                  <a:srgbClr val="28303A"/>
                </a:solidFill>
              </a:defRPr>
            </a:pPr>
            <a:r>
              <a:t>Objective: Present a proactive oversight model to eliminate late-stage data discrepancies and regulatory inspection risks.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The Scale of Modern Clinical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Risk managers oversee thousands of patient visits across dozens—or hundreds—of global trial sites.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Clinical data flows continuously from eCRFs, eCOA, central labs, and EHR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The Monitoring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Traditional monitoring can leave critical protocol deviations invisible in the noise of daily trial operations.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High trial volume creates operational blind spots.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Minor protocol slip-ups can compound into major regulatory vulnerabilities.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The Cost of Late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Missed visits may only become obvious at site closeout or database lock.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Wrong dosing may be discovered during final data reconciliation.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Prohibited medications may surface during regulatory inspection or audit.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Late data entry may remain hidden until periodic quality audits.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Operational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Missed visits → incomplete longitudinal endpoint data and lost patient retention.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Wrong dosing → patient-safety concerns and invalid data points excluded from analysis.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Prohibited medications → cited protocol deviations and unblinded-bias risks.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Late data entry → lagging visibility and delayed signal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Introducing TrialGuard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TrialGuard transforms oversight from retrospective review to real-time intervention.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It provides a continuous, automated evidence trail that pinpoints sites and subjects requiring intervention while there is still time to 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Traditional Model vs. TrialGuard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Traditional: Incident → Months Pass → Audit Discovery → Failure / Penalty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TrialGuard: Incident → TrialGuard Alert → Immediate Intervention →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Early Warning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Continuous scanning across site and patient data streams.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Identifies potential protocol risks while the trial is active.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Supports intervention during active treatment windows rather than post-trial closeout.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Evidence Trail &amp; Audit-Ready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Contextual data logs explain why a site or subject is flagged.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Complete provenance chain for every flagged risk item.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Drill-down analytics connect global trial metrics to individual patient visit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Priority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Dynamically ranks sites and subjects according to risk severity and protocol criticality.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Routes actionable alerts directly to Clinical Research Associates (CRAs) and Risk Managers.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Focuses attention on the highest-priority intervention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Operational Workflow: Alert to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1. AGGREGATE — Ingest data streams across eCRF, lab, and eCOA.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2. EVALUATE — Flag protocol risk, such as a dosage error.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3. INVESTIGATE — Risk Manager reviews the audit trail and evidence log.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4. CORRECT — CRA engages site staff to re-train and correct the issue.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Strategic Value: Data Integrity &amp; Audit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Data Integrity Preservation: Protect primary endpoint validity by identifying unusable subject cohorts early.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Audit Readiness: Maintain a continuous audit-ready posture for FDA/EMA inspections.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Reduce pre-inspection panic through ongoing evidence and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Strategic Value: Cost &amp; Patient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Cost Reduction: Reduce costly query burdens during database lock and avoid expensive trial extensions.</a:t>
            </a:r>
          </a:p>
          <a:p>
            <a:pPr>
              <a:spcAft>
                <a:spcPts val="18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Patient Safety: Help prevent adverse events linked to incorrect dosing or unsafe drug interactions in real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Implementation Road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Phase 1 — Weeks 1–4: System Integration — connect API connectors to EDC, CTMS, and central laboratory databases.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Phase 2 — Weeks 5–6: Protocol Rule Configuration — input dosing thresholds, visit windows, and prohibited medication lists.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Phase 3 — Weeks 7–8: User Onboarding &amp; Pilot — train Risk Managers and CRAs; establish baseline operational performance.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Phase 4 — Week 9+: Full Deployment — scale proactive monitoring across active sites and patient cohorts.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8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Move from retrospective reconciliation to proactive, real-time oversight.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Detect protocol risks earlier and route evidence-backed alerts to the right teams.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Create a continuous audit-ready evidence trail.</a:t>
            </a:r>
          </a:p>
          <a:p>
            <a:pPr>
              <a:spcAft>
                <a:spcPts val="1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Support data integrity, cost control, and patient safety throughout the active trial.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